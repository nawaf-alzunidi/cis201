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  <p:sldId id="379" r:id="rId14"/>
    <p:sldId id="380" r:id="rId15"/>
    <p:sldId id="3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 showGuides="1">
      <p:cViewPr varScale="1">
        <p:scale>
          <a:sx n="91" d="100"/>
          <a:sy n="91" d="100"/>
        </p:scale>
        <p:origin x="32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850" y="741026"/>
            <a:ext cx="9524299" cy="1960229"/>
          </a:xfrm>
        </p:spPr>
        <p:txBody>
          <a:bodyPr anchor="b"/>
          <a:lstStyle/>
          <a:p>
            <a:r>
              <a:rPr lang="en-US" sz="4800" dirty="0"/>
              <a:t>Fundamentals Of Web Design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A N K Digital library</a:t>
            </a:r>
          </a:p>
          <a:p>
            <a:r>
              <a:rPr lang="en-US" sz="2800" dirty="0"/>
              <a:t>Students:</a:t>
            </a:r>
          </a:p>
          <a:p>
            <a:r>
              <a:rPr lang="en-US" sz="2000" dirty="0"/>
              <a:t>(Abdulrahman Bakilah)(202311481)</a:t>
            </a:r>
          </a:p>
          <a:p>
            <a:r>
              <a:rPr lang="en-US" sz="2000" dirty="0"/>
              <a:t>(Khaled Alhazmi)(202410093)</a:t>
            </a:r>
          </a:p>
          <a:p>
            <a:r>
              <a:rPr lang="en-US" sz="2000" dirty="0"/>
              <a:t>(Nawaf </a:t>
            </a:r>
            <a:r>
              <a:rPr lang="en-US" sz="2000" dirty="0" err="1"/>
              <a:t>alzunidi</a:t>
            </a:r>
            <a:r>
              <a:rPr lang="en-US" sz="2000" dirty="0"/>
              <a:t>)(202221108)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About the project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 our digital library, we showcase the most famous books in the world with the aim of spreading knowledge. </a:t>
            </a:r>
          </a:p>
          <a:p>
            <a:r>
              <a:rPr lang="en-US" dirty="0"/>
              <a:t> Enjoy a wide variety of books on self-development, understanding others, how the world works, and more.</a:t>
            </a:r>
          </a:p>
          <a:p>
            <a:r>
              <a:rPr lang="en-US" dirty="0"/>
              <a:t>This Library project is created by students loves learning web design with Ms. Sara </a:t>
            </a:r>
            <a:r>
              <a:rPr lang="en-US" dirty="0" err="1"/>
              <a:t>Alsabeg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679508"/>
            <a:ext cx="11562303" cy="4874190"/>
          </a:xfrm>
        </p:spPr>
        <p:txBody>
          <a:bodyPr/>
          <a:lstStyle/>
          <a:p>
            <a:r>
              <a:rPr lang="en-US" dirty="0"/>
              <a:t>Color Scheme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2E6972-BA5A-5AEF-4581-254F36A78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39" y="1514758"/>
            <a:ext cx="8900160" cy="430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Fonts Used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sz="1600" dirty="0">
                <a:solidFill>
                  <a:srgbClr val="FF0000"/>
                </a:solidFill>
              </a:rPr>
              <a:t>The fonts mainly used </a:t>
            </a:r>
            <a:r>
              <a:rPr lang="en-US" sz="1600" dirty="0" err="1">
                <a:solidFill>
                  <a:srgbClr val="FF0000"/>
                </a:solidFill>
              </a:rPr>
              <a:t>are:</a:t>
            </a:r>
            <a:r>
              <a:rPr lang="en-US" sz="1600" dirty="0" err="1"/>
              <a:t>'Segoe</a:t>
            </a:r>
            <a:r>
              <a:rPr lang="en-US" sz="1600" dirty="0"/>
              <a:t> UI', Tahoma, Geneva, Verdana, sans-serif;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195" y="662730"/>
            <a:ext cx="3632026" cy="696286"/>
          </a:xfrm>
        </p:spPr>
        <p:txBody>
          <a:bodyPr/>
          <a:lstStyle/>
          <a:p>
            <a:r>
              <a:rPr lang="en-US" dirty="0"/>
              <a:t>Page Hierarchy</a:t>
            </a:r>
          </a:p>
        </p:txBody>
      </p:sp>
      <p:pic>
        <p:nvPicPr>
          <p:cNvPr id="6" name="Content Placeholder 5" descr="A diagram of a website&#10;&#10;AI-generated content may be incorrect.">
            <a:extLst>
              <a:ext uri="{FF2B5EF4-FFF2-40B4-BE49-F238E27FC236}">
                <a16:creationId xmlns:a16="http://schemas.microsoft.com/office/drawing/2014/main" id="{401DC069-2E53-ABFE-F8B3-70F91BC7C42A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tretch>
            <a:fillRect/>
          </a:stretch>
        </p:blipFill>
        <p:spPr>
          <a:xfrm>
            <a:off x="3820160" y="1342238"/>
            <a:ext cx="7001049" cy="5320439"/>
          </a:xfr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69768" y="817833"/>
            <a:ext cx="6327105" cy="1522695"/>
          </a:xfrm>
        </p:spPr>
        <p:txBody>
          <a:bodyPr anchor="b"/>
          <a:lstStyle/>
          <a:p>
            <a:r>
              <a:rPr lang="en-US" dirty="0"/>
              <a:t>Pages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251" y="2883833"/>
            <a:ext cx="6327105" cy="3775759"/>
          </a:xfrm>
        </p:spPr>
        <p:txBody>
          <a:bodyPr/>
          <a:lstStyle/>
          <a:p>
            <a:pPr algn="l"/>
            <a:r>
              <a:rPr lang="en-US" dirty="0"/>
              <a:t>1- home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2-Books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3-About us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4-contact us</a:t>
            </a:r>
          </a:p>
          <a:p>
            <a:pPr algn="l"/>
            <a:r>
              <a:rPr lang="en-US" sz="1100" dirty="0">
                <a:solidFill>
                  <a:srgbClr val="00B0F0"/>
                </a:solidFill>
              </a:rPr>
              <a:t>All pages contain a header which has access to all the pages, a search bar and a currency option. All the pages have a footer which has the contact us information. Like, GitHub, Gmail, etc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pPr algn="ctr"/>
            <a:r>
              <a:rPr lang="en-US" dirty="0"/>
              <a:t>Home page</a:t>
            </a:r>
          </a:p>
        </p:txBody>
      </p:sp>
      <p:pic>
        <p:nvPicPr>
          <p:cNvPr id="9" name="Content Placeholder 8" descr="A computer screen shot of a library&#10;&#10;AI-generated content may be incorrect.">
            <a:extLst>
              <a:ext uri="{FF2B5EF4-FFF2-40B4-BE49-F238E27FC236}">
                <a16:creationId xmlns:a16="http://schemas.microsoft.com/office/drawing/2014/main" id="{716D72EB-9569-6E41-4F48-EFC9D8911008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3"/>
          <a:stretch>
            <a:fillRect/>
          </a:stretch>
        </p:blipFill>
        <p:spPr>
          <a:xfrm>
            <a:off x="2399620" y="2281966"/>
            <a:ext cx="5804813" cy="405172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04AB-F2F9-FFB8-B56A-1933FA209C5C}"/>
              </a:ext>
            </a:extLst>
          </p:cNvPr>
          <p:cNvSpPr txBox="1"/>
          <p:nvPr/>
        </p:nvSpPr>
        <p:spPr>
          <a:xfrm>
            <a:off x="8607106" y="2449585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The home page has a brief introduction about the </a:t>
            </a:r>
            <a:r>
              <a:rPr lang="en-US" dirty="0" err="1">
                <a:solidFill>
                  <a:srgbClr val="00B0F0"/>
                </a:solidFill>
              </a:rPr>
              <a:t>libary</a:t>
            </a:r>
            <a:r>
              <a:rPr lang="en-US" dirty="0">
                <a:solidFill>
                  <a:srgbClr val="00B0F0"/>
                </a:solidFill>
              </a:rPr>
              <a:t> . There are multiple positive reviews from the visitors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Books page: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Content Placeholder 8" descr="A screenshot of a library&#10;&#10;AI-generated content may be incorrect.">
            <a:extLst>
              <a:ext uri="{FF2B5EF4-FFF2-40B4-BE49-F238E27FC236}">
                <a16:creationId xmlns:a16="http://schemas.microsoft.com/office/drawing/2014/main" id="{918BFC59-79D3-2CF3-4B07-0EE5D854479E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3"/>
          <a:stretch>
            <a:fillRect/>
          </a:stretch>
        </p:blipFill>
        <p:spPr>
          <a:xfrm>
            <a:off x="572769" y="2120863"/>
            <a:ext cx="10122241" cy="4413103"/>
          </a:xfrm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dirty="0"/>
              <a:t>About us page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Content Placeholder 10" descr="A computer screen shot with text&#10;&#10;AI-generated content may be incorrect.">
            <a:extLst>
              <a:ext uri="{FF2B5EF4-FFF2-40B4-BE49-F238E27FC236}">
                <a16:creationId xmlns:a16="http://schemas.microsoft.com/office/drawing/2014/main" id="{2929E3C2-5BA9-3402-3078-2C8A88015B4C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6096000" cy="6872642"/>
          </a:xfrm>
        </p:spPr>
      </p:pic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E46A8D-01AB-5B59-E350-058952AC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us page</a:t>
            </a:r>
          </a:p>
        </p:txBody>
      </p:sp>
      <p:pic>
        <p:nvPicPr>
          <p:cNvPr id="12" name="Content Placeholder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B8EBA15-1845-7BBC-C457-C4556F0D97C3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4633981" y="0"/>
            <a:ext cx="7558020" cy="6858000"/>
          </a:xfrm>
        </p:spPr>
      </p:pic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External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java</a:t>
            </a:r>
            <a:r>
              <a:rPr lang="en-US" dirty="0">
                <a:solidFill>
                  <a:srgbClr val="00B0F0"/>
                </a:solidFill>
              </a:rPr>
              <a:t>:&lt;link </a:t>
            </a:r>
            <a:r>
              <a:rPr lang="en-US" dirty="0" err="1">
                <a:solidFill>
                  <a:srgbClr val="00B0F0"/>
                </a:solidFill>
              </a:rPr>
              <a:t>rel</a:t>
            </a:r>
            <a:r>
              <a:rPr lang="en-US" dirty="0">
                <a:solidFill>
                  <a:srgbClr val="00B0F0"/>
                </a:solidFill>
              </a:rPr>
              <a:t>="stylesheet" </a:t>
            </a:r>
            <a:r>
              <a:rPr lang="en-US" dirty="0" err="1">
                <a:solidFill>
                  <a:srgbClr val="00B0F0"/>
                </a:solidFill>
              </a:rPr>
              <a:t>href</a:t>
            </a:r>
            <a:r>
              <a:rPr lang="en-US" dirty="0">
                <a:solidFill>
                  <a:srgbClr val="00B0F0"/>
                </a:solidFill>
              </a:rPr>
              <a:t>="my.js"&gt;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 err="1"/>
              <a:t>Css</a:t>
            </a:r>
            <a:r>
              <a:rPr lang="en-US" dirty="0">
                <a:solidFill>
                  <a:srgbClr val="00B0F0"/>
                </a:solidFill>
              </a:rPr>
              <a:t>:&lt;link </a:t>
            </a:r>
            <a:r>
              <a:rPr lang="en-US" dirty="0" err="1">
                <a:solidFill>
                  <a:srgbClr val="00B0F0"/>
                </a:solidFill>
              </a:rPr>
              <a:t>rel</a:t>
            </a:r>
            <a:r>
              <a:rPr lang="en-US" dirty="0">
                <a:solidFill>
                  <a:srgbClr val="00B0F0"/>
                </a:solidFill>
              </a:rPr>
              <a:t>="stylesheet" </a:t>
            </a:r>
            <a:r>
              <a:rPr lang="en-US" dirty="0" err="1">
                <a:solidFill>
                  <a:srgbClr val="00B0F0"/>
                </a:solidFill>
              </a:rPr>
              <a:t>href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mySheet</a:t>
            </a:r>
            <a:r>
              <a:rPr lang="en-US" dirty="0">
                <a:solidFill>
                  <a:srgbClr val="00B0F0"/>
                </a:solidFill>
              </a:rPr>
              <a:t>"&gt;</a:t>
            </a:r>
          </a:p>
          <a:p>
            <a:r>
              <a:rPr lang="en-US" dirty="0">
                <a:solidFill>
                  <a:srgbClr val="00B0F0"/>
                </a:solidFill>
              </a:rPr>
              <a:t>&lt;link </a:t>
            </a:r>
            <a:r>
              <a:rPr lang="en-US" dirty="0" err="1">
                <a:solidFill>
                  <a:srgbClr val="00B0F0"/>
                </a:solidFill>
              </a:rPr>
              <a:t>rel</a:t>
            </a:r>
            <a:r>
              <a:rPr lang="en-US" dirty="0">
                <a:solidFill>
                  <a:srgbClr val="00B0F0"/>
                </a:solidFill>
              </a:rPr>
              <a:t>="stylesheet" </a:t>
            </a:r>
            <a:r>
              <a:rPr lang="en-US" dirty="0" err="1">
                <a:solidFill>
                  <a:srgbClr val="00B0F0"/>
                </a:solidFill>
              </a:rPr>
              <a:t>href</a:t>
            </a:r>
            <a:r>
              <a:rPr lang="en-US" dirty="0">
                <a:solidFill>
                  <a:srgbClr val="00B0F0"/>
                </a:solidFill>
              </a:rPr>
              <a:t>="sss3"&gt;</a:t>
            </a:r>
          </a:p>
          <a:p>
            <a:r>
              <a:rPr lang="en-US" dirty="0">
                <a:solidFill>
                  <a:srgbClr val="00B0F0"/>
                </a:solidFill>
              </a:rPr>
              <a:t>&lt;link </a:t>
            </a:r>
            <a:r>
              <a:rPr lang="en-US" dirty="0" err="1">
                <a:solidFill>
                  <a:srgbClr val="00B0F0"/>
                </a:solidFill>
              </a:rPr>
              <a:t>rel</a:t>
            </a:r>
            <a:r>
              <a:rPr lang="en-US" dirty="0">
                <a:solidFill>
                  <a:srgbClr val="00B0F0"/>
                </a:solidFill>
              </a:rPr>
              <a:t>="stylesheet" </a:t>
            </a:r>
            <a:r>
              <a:rPr lang="en-US" dirty="0" err="1">
                <a:solidFill>
                  <a:srgbClr val="00B0F0"/>
                </a:solidFill>
              </a:rPr>
              <a:t>href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sss</a:t>
            </a:r>
            <a:r>
              <a:rPr lang="en-US" dirty="0">
                <a:solidFill>
                  <a:srgbClr val="00B0F0"/>
                </a:solidFill>
              </a:rPr>
              <a:t>"&gt;</a:t>
            </a:r>
          </a:p>
          <a:p>
            <a:r>
              <a:rPr lang="ar-SA" dirty="0">
                <a:solidFill>
                  <a:srgbClr val="00B0F0"/>
                </a:solidFill>
              </a:rPr>
              <a:t> 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3B1C2F-B36D-4F27-EBCD-8CD6F4640EF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1956631"/>
            <a:ext cx="10515600" cy="3478212"/>
          </a:xfrm>
        </p:spPr>
        <p:txBody>
          <a:bodyPr/>
          <a:lstStyle/>
          <a:p>
            <a:pPr algn="ctr"/>
            <a:r>
              <a:rPr lang="en-US" sz="199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{8FB71623-3857-4E21-A681-9865A42CFA81}TFe8699e8e-689b-4d7e-abcf-e888fd749829db3118dc_win32-d573b439b56f</Template>
  <TotalTime>44</TotalTime>
  <Words>262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Nova</vt:lpstr>
      <vt:lpstr>Biome</vt:lpstr>
      <vt:lpstr>Calibri</vt:lpstr>
      <vt:lpstr>Custom</vt:lpstr>
      <vt:lpstr>Fundamentals Of Web Design</vt:lpstr>
      <vt:lpstr>About the project</vt:lpstr>
      <vt:lpstr>PowerPoint Presentation</vt:lpstr>
      <vt:lpstr>Fonts Used</vt:lpstr>
      <vt:lpstr>Page Hierarchy</vt:lpstr>
      <vt:lpstr>Pages</vt:lpstr>
      <vt:lpstr>Home page</vt:lpstr>
      <vt:lpstr>Books page:</vt:lpstr>
      <vt:lpstr>About us page</vt:lpstr>
      <vt:lpstr>Contact us page</vt:lpstr>
      <vt:lpstr>External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يوسف بقيلة</dc:creator>
  <cp:lastModifiedBy>يوسف بقيلة</cp:lastModifiedBy>
  <cp:revision>1</cp:revision>
  <dcterms:created xsi:type="dcterms:W3CDTF">2025-11-16T16:39:06Z</dcterms:created>
  <dcterms:modified xsi:type="dcterms:W3CDTF">2025-11-16T17:24:02Z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